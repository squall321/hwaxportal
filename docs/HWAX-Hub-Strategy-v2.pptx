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810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FB4DE"/>
                </a:solidFill>
                <a:latin typeface="맑은 고딕"/>
                <a:ea typeface="맑은 고딕"/>
              </a:rPr>
              <a:t>HW 담당 산하 개발실 · 공통 플랫폼 추진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맑은 고딕"/>
                <a:ea typeface="맑은 고딕"/>
              </a:rPr>
              <a:t>HWAX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DBE8F7"/>
                </a:solidFill>
                <a:latin typeface="맑은 고딕"/>
                <a:ea typeface="맑은 고딕"/>
              </a:rPr>
              <a:t>데이터 &amp; 생성형 AI 통합 허브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“만드는 건 </a:t>
            </a:r>
            <a:r>
              <a:rPr sz="1800" b="1">
                <a:solidFill>
                  <a:srgbClr val="E27D2E"/>
                </a:solidFill>
                <a:latin typeface="맑은 고딕"/>
                <a:ea typeface="맑은 고딕"/>
              </a:rPr>
              <a:t>각 팀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,  서비스 운영과 데이터 연결은 </a:t>
            </a:r>
            <a:r>
              <a:rPr sz="1800" b="1">
                <a:solidFill>
                  <a:srgbClr val="6FCDC5"/>
                </a:solidFill>
                <a:latin typeface="맑은 고딕"/>
                <a:ea typeface="맑은 고딕"/>
              </a:rPr>
              <a:t>HE팀(HWAX 허브)</a:t>
            </a:r>
            <a:r>
              <a:rPr sz="1800" b="0">
                <a:solidFill>
                  <a:srgbClr val="E6EEF8"/>
                </a:solidFill>
                <a:latin typeface="맑은 고딕"/>
                <a:ea typeface="맑은 고딕"/>
              </a:rPr>
              <a:t>이 맡는다.”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>
                <a:solidFill>
                  <a:srgbClr val="A9C2E0"/>
                </a:solidFill>
                <a:latin typeface="맑은 고딕"/>
                <a:ea typeface="맑은 고딕"/>
              </a:rPr>
              <a:t>팀별로 흩어진 시스템·데이터·지식을 하나의 허브로 모아, 개발실 전체의 AI 활용을 가속합니다.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HE팀  |  2026. 06</a:t>
            </a:r>
            <a:r>
              <a:rPr sz="1100" b="0">
                <a:solidFill>
                  <a:srgbClr val="7F9CC0"/>
                </a:solidFill>
                <a:latin typeface="맑은 고딕"/>
                <a:ea typeface="맑은 고딕"/>
              </a:rPr>
              <a:t>        현재 통합 포탈 + 3개 서비스 운영 중 · 구현 기준 작성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왜 지금 해야 하나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팀마다 따로 따로 · 같은 걸 여러 번 · AI 활용 정체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1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9912"/>
                <a:gridCol w="4949803"/>
                <a:gridCol w="4124836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현재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허브 구축 이후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팀마다 따로 따로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각 팀의 시스템·데이터가 서로 연결이 안 돼 같은 정보를 따로 관리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하나의 허브로 연결 → 팀 간 데이터 상호 활용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같은 걸 여러 번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팀마다 비슷한 서버·시스템을 각자 구축, 사내 시스템에도 중복 요청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HE팀이 공통 운영 대행 → 팀은 본업에 집중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AI 활용이 안 됨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데이터·업무 지식이 흩어져 생성형 AI 도입이 지지부진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허브에 모아 AI 검색·챗봇 즉시 활용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074920"/>
            <a:ext cx="11274552" cy="9144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38928"/>
            <a:ext cx="107899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6F9FD8"/>
                </a:solidFill>
                <a:latin typeface="맑은 고딕"/>
                <a:ea typeface="맑은 고딕"/>
              </a:rPr>
              <a:t>비전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“만드는 건 각 팀, 운영은 HE팀”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C2D4EC"/>
                </a:solidFill>
                <a:latin typeface="맑은 고딕"/>
                <a:ea typeface="맑은 고딕"/>
              </a:rPr>
              <a:t>성립 조건 :  ① 공통 API 규격 준수·팀 포탈 데이터 개방   ② 소스코드 GitHub 공유   ③ 그룹 담당자 1명 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허브 구성 — 통합 포탈 + 3개 서비스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세 서비스 모두 현재 운영 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6858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HWAX Portal</a:t>
            </a:r>
            <a:r>
              <a:rPr sz="1250" b="0">
                <a:solidFill>
                  <a:srgbClr val="C2D4EC"/>
                </a:solidFill>
                <a:latin typeface="맑은 고딕"/>
                <a:ea typeface="맑은 고딕"/>
              </a:rPr>
              <a:t>   통합 관문 — 로그인 한 번으로 모든 서비스 접근 · 각 팀 포탈 링크 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1274552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55B66"/>
                </a:solidFill>
                <a:latin typeface="맑은 고딕"/>
                <a:ea typeface="맑은 고딕"/>
              </a:rPr>
              <a:t>간단한 참여  </a:t>
            </a: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──────────────────────────────</a:t>
            </a:r>
            <a:r>
              <a:rPr sz="1100" b="1">
                <a:solidFill>
                  <a:srgbClr val="555B66"/>
                </a:solidFill>
                <a:latin typeface="맑은 고딕"/>
                <a:ea typeface="맑은 고딕"/>
              </a:rPr>
              <a:t>  깊은 참여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61188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36118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MX White Paper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3337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392B"/>
                </a:solidFill>
                <a:latin typeface="맑은 고딕"/>
                <a:ea typeface="맑은 고딕"/>
              </a:rPr>
              <a:t>업무 백서 &amp; 지식 카탈로그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61188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32461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팀 : 백서·포탈 링크 등록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HE팀 : 게시·검색·지식 연계 제공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8536" y="2423160"/>
            <a:ext cx="361188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88536" y="2423160"/>
            <a:ext cx="3611880" cy="4572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HWAX 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5696" y="3017520"/>
            <a:ext cx="3337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8C7E"/>
                </a:solidFill>
                <a:latin typeface="맑은 고딕"/>
                <a:ea typeface="맑은 고딕"/>
              </a:rPr>
              <a:t>소스 제출 → 서비스 자동화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361188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3749040"/>
            <a:ext cx="32461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팀 : 개발 후 GitHub에 소스 공유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HE팀 : 웹 서비스화·운영 자동 대행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9872" y="2423160"/>
            <a:ext cx="3611880" cy="26517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19872" y="2423160"/>
            <a:ext cx="3611880" cy="45720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2423160"/>
            <a:ext cx="361188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AX Data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3017520"/>
            <a:ext cx="33375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7B3FA0"/>
                </a:solidFill>
                <a:latin typeface="맑은 고딕"/>
                <a:ea typeface="맑은 고딕"/>
              </a:rPr>
              <a:t>데이터 · 생성형 AI 허브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3611880"/>
            <a:ext cx="333756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3749040"/>
            <a:ext cx="324612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E27D2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팀 : 데이터·챗봇 업로드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128C7E"/>
                </a:solidFill>
                <a:latin typeface="맑은 고딕"/>
                <a:ea typeface="맑은 고딕"/>
              </a:rPr>
              <a:t>● </a:t>
            </a:r>
            <a:r>
              <a:rPr sz="1100" b="0">
                <a:solidFill>
                  <a:srgbClr val="2B2F36"/>
                </a:solidFill>
                <a:latin typeface="맑은 고딕"/>
                <a:ea typeface="맑은 고딕"/>
              </a:rPr>
              <a:t>HE팀 : AI 검색·질의응답 서비스 대행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11274552" cy="77724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413248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5FB4"/>
                </a:solidFill>
                <a:latin typeface="맑은 고딕"/>
                <a:ea typeface="맑은 고딕"/>
              </a:rPr>
              <a:t>참여 방법  </a:t>
            </a: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팀 상황에 맞게 4가지 유형으로 참여 (다음 장) — 유형 1·2는 해당 팀, 유형 3·4는 전 팀 필수(Top-down).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각 팀 참여 유형 ① ②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팀 상황에 따라 — 해당하는 팀이 협의·신청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508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239520"/>
            <a:ext cx="1828800" cy="274320"/>
          </a:xfrm>
          <a:prstGeom prst="rect">
            <a:avLst/>
          </a:prstGeom>
          <a:solidFill>
            <a:srgbClr val="9AA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239520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해당 팀 · 협의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35024"/>
            <a:ext cx="51206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A5FB4"/>
                </a:solidFill>
                <a:latin typeface="맑은 고딕"/>
                <a:ea typeface="맑은 고딕"/>
              </a:rPr>
              <a:t>유형 1 — 팀 포탈 연동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B2F36"/>
                </a:solidFill>
                <a:latin typeface="맑은 고딕"/>
                <a:ea typeface="맑은 고딕"/>
              </a:rPr>
              <a:t>팀 내 자체 포탈 서비스를 운영하는 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0292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팀 포탈은 계속 자체 운영 — 단, 통합 포탈과 공통 API 규격(데이터 주고받는 방식)을 협의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혜택 : 공통 데이터 수집 API를 제공받아 타 팀 데이터 상호 접근 + 사내 시스템 데이터 활용 가능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팀 포탈 API 개방은 필수 — 통합 포탈이 데이터를 가져가 보관(캐싱)해 데이터 사일로(고립) 방지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A5FB4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연동 담당자 1명 지정 — 규격 협의·지속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5751576"/>
            <a:ext cx="5157216" cy="384048"/>
          </a:xfrm>
          <a:prstGeom prst="rect">
            <a:avLst/>
          </a:prstGeom>
          <a:solidFill>
            <a:srgbClr val="EB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5157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A5FB4"/>
                </a:solidFill>
                <a:latin typeface="맑은 고딕"/>
                <a:ea typeface="맑은 고딕"/>
              </a:rPr>
              <a:t>💬 데이터를 여는 만큼, 개발실 전체 데이터를 받아 쓸 수 있음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188720"/>
            <a:ext cx="548640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188720"/>
            <a:ext cx="5486400" cy="5080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2952" y="1239520"/>
            <a:ext cx="1828800" cy="274320"/>
          </a:xfrm>
          <a:prstGeom prst="rect">
            <a:avLst/>
          </a:prstGeom>
          <a:solidFill>
            <a:srgbClr val="9AA6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2952" y="1239520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해당 팀 · 신청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335024"/>
            <a:ext cx="51206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28C7E"/>
                </a:solidFill>
                <a:latin typeface="맑은 고딕"/>
                <a:ea typeface="맑은 고딕"/>
              </a:rPr>
              <a:t>유형 2 — 서비스 운영 위탁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B2F36"/>
                </a:solidFill>
                <a:latin typeface="맑은 고딕"/>
                <a:ea typeface="맑은 고딕"/>
              </a:rPr>
              <a:t>자동화는 개발하지만, 웹 서비스 운영 지원이 필요한 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48840"/>
            <a:ext cx="50292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28C7E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개발·테스트는 기존처럼 자체 수행 — 바뀌는 것 없음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28C7E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완성된 소스를 정해진 방식으로 GitHub에 올리면, 허브가 자동으로 웹 서비스화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28C7E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서버·배포·장애 대응은 HE팀이 대행 → 팀은 개발에만 집중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128C7E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Python, Java, Node.js, C++ 등 15종 이상 개발 언어 지원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5751576"/>
            <a:ext cx="5157216" cy="384048"/>
          </a:xfrm>
          <a:prstGeom prst="rect">
            <a:avLst/>
          </a:prstGeom>
          <a:solidFill>
            <a:srgbClr val="EA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575157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128C7E"/>
                </a:solidFill>
                <a:latin typeface="맑은 고딕"/>
                <a:ea typeface="맑은 고딕"/>
              </a:rPr>
              <a:t>📋 등록 방법 안내 후, GitHub 업로드만 하면 자동 운영 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각 팀 참여 유형 ③ 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전 팀 필수 — Top-down 으로 추진해야 하는 항목 (담당님 지시 필요)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50800"/>
          </a:xfrm>
          <a:prstGeom prst="rect">
            <a:avLst/>
          </a:prstGeom>
          <a:solidFill>
            <a:srgbClr val="7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23952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239520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전 팀 필수 · Top-down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335024"/>
            <a:ext cx="51206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B3FA0"/>
                </a:solidFill>
                <a:latin typeface="맑은 고딕"/>
                <a:ea typeface="맑은 고딕"/>
              </a:rPr>
              <a:t>유형 3 — 생성형 AI 연계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B2F36"/>
                </a:solidFill>
                <a:latin typeface="맑은 고딕"/>
                <a:ea typeface="맑은 고딕"/>
              </a:rPr>
              <a:t>팀 데이터·챗봇을 생성형 AI 서비스에 탑재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0292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각 팀의 데이터와 챗봇을 생성형 AI 서비스(AX Data Hub)에 탑재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팀 간 데이터가 연결되어 시너지 — 한 곳에서 여러 팀의 데이터를 함께 질의·활용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그룹 데이터 담당자 지정 → 업로드·품질 관리 전담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7B3FA0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ChatGPT / Claude 오픈 후 — LLM 활용 데이터 업로드 방법 공유 예정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5751576"/>
            <a:ext cx="5157216" cy="384048"/>
          </a:xfrm>
          <a:prstGeom prst="rect">
            <a:avLst/>
          </a:prstGeom>
          <a:solidFill>
            <a:srgbClr val="F5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75157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7B3FA0"/>
                </a:solidFill>
                <a:latin typeface="맑은 고딕"/>
                <a:ea typeface="맑은 고딕"/>
              </a:rPr>
              <a:t>🔑 개별 팀의 선택이 아닌, 전 팀 공통 추진 사항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188720"/>
            <a:ext cx="5486400" cy="5074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188720"/>
            <a:ext cx="548640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2952" y="123952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2952" y="1239520"/>
            <a:ext cx="182880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전 팀 필수 · Top-down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335024"/>
            <a:ext cx="5120640" cy="777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0392B"/>
                </a:solidFill>
                <a:latin typeface="맑은 고딕"/>
                <a:ea typeface="맑은 고딕"/>
              </a:rPr>
              <a:t>유형 4 — 지식 온톨로지화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>
                <a:solidFill>
                  <a:srgbClr val="2B2F36"/>
                </a:solidFill>
                <a:latin typeface="맑은 고딕"/>
                <a:ea typeface="맑은 고딕"/>
              </a:rPr>
              <a:t>팀 업무 지식을 백서로 등록 — 지식 연결 체계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48840"/>
            <a:ext cx="5029200" cy="3474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팀별 핵심 업무 지식·노하우를 백서로 정리해 MX White Paper에 등록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각 팀의 지식이 서로 연결되는 지식 체계(온톨로지) 구축 — 조직 전체가 검색·활용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생성형 AI와 연계 → 백서 기반 AI 질의응답 자동 구성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C0392B"/>
                </a:solidFill>
                <a:latin typeface="맑은 고딕"/>
                <a:ea typeface="맑은 고딕"/>
              </a:rPr>
              <a:t>●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ChatGPT / Claude 오픈 후 — LLM 활용 백서 작성 방법 공유 예정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9944" y="5751576"/>
            <a:ext cx="5157216" cy="384048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5751576"/>
            <a:ext cx="49377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0392B"/>
                </a:solidFill>
                <a:latin typeface="맑은 고딕"/>
                <a:ea typeface="맑은 고딕"/>
              </a:rPr>
              <a:t>📝 개별 팀의 선택이 아닌, 전 팀 공통 추진 사항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API 표준화 — 사내 시스템 창구 일원화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중복 요청 정리 → 통합 포탈이 한 번 받아, 모두가 쓴다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74552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07008"/>
            <a:ext cx="10881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맑은 고딕"/>
                <a:ea typeface="맑은 고딕"/>
              </a:rPr>
              <a:t>현재 문제  </a:t>
            </a: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각 팀이 사내 시스템(인사·구매·품질 등) 데이터를 제각각 요청·호출 → 같은 데이터를 여러 팀이 중복으로 가져가 트래픽 낭비, 요청 양식도 제각각이라 전체 현황 파악 불가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555B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468880" cy="1325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맑은 고딕"/>
                <a:ea typeface="맑은 고딕"/>
              </a:rPr>
              <a:t>사내 시스템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인사 · 구매 · 품질 등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각 시스템 운영 그룹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50592"/>
            <a:ext cx="1600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AA6B5"/>
                </a:solidFill>
                <a:latin typeface="맑은 고딕"/>
                <a:ea typeface="맑은 고딕"/>
              </a:rPr>
              <a:t>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26080"/>
            <a:ext cx="1600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5B66"/>
                </a:solidFill>
                <a:latin typeface="맑은 고딕"/>
                <a:ea typeface="맑은 고딕"/>
              </a:rPr>
              <a:t>창구 일원화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5B66"/>
                </a:solidFill>
                <a:latin typeface="맑은 고딕"/>
                <a:ea typeface="맑은 고딕"/>
              </a:rPr>
              <a:t>API 규격 협의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5B66"/>
                </a:solidFill>
                <a:latin typeface="맑은 고딕"/>
                <a:ea typeface="맑은 고딕"/>
              </a:rPr>
              <a:t>트래픽 1회로 절감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286000"/>
            <a:ext cx="2743200" cy="169164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2487168"/>
            <a:ext cx="2523744" cy="1325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HW 개발 통합 포탈 (HE팀)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FFB36B"/>
                </a:solidFill>
                <a:latin typeface="맑은 고딕"/>
                <a:ea typeface="맑은 고딕"/>
              </a:rPr>
              <a:t>사내 시스템 데이터를 한 번 받아 보관(캐싱)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C2D4EC"/>
                </a:solidFill>
                <a:latin typeface="맑은 고딕"/>
                <a:ea typeface="맑은 고딕"/>
              </a:rPr>
              <a:t>→ 개발실 모든 팀이 여기서 가져다 사용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450592"/>
            <a:ext cx="16002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9AA6B5"/>
                </a:solidFill>
                <a:latin typeface="맑은 고딕"/>
                <a:ea typeface="맑은 고딕"/>
              </a:rPr>
              <a:t>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926080"/>
            <a:ext cx="1600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555B66"/>
                </a:solidFill>
                <a:latin typeface="맑은 고딕"/>
                <a:ea typeface="맑은 고딕"/>
              </a:rPr>
              <a:t>팀 포탈 API 개방(필수)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5B66"/>
                </a:solidFill>
                <a:latin typeface="맑은 고딕"/>
                <a:ea typeface="맑은 고딕"/>
              </a:rPr>
              <a:t>상호 데이터 접근·캐싱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55B66"/>
                </a:solidFill>
                <a:latin typeface="맑은 고딕"/>
                <a:ea typeface="맑은 고딕"/>
              </a:rPr>
              <a:t>데이터 사일로 방지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286000"/>
            <a:ext cx="26517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514600"/>
            <a:ext cx="2468880" cy="13258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B2F36"/>
                </a:solidFill>
                <a:latin typeface="맑은 고딕"/>
                <a:ea typeface="맑은 고딕"/>
              </a:rPr>
              <a:t>각 팀 포탈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팀 데이터 개방 ↔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55B66"/>
                </a:solidFill>
                <a:latin typeface="맑은 고딕"/>
                <a:ea typeface="맑은 고딕"/>
              </a:rPr>
              <a:t>전체 데이터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43400"/>
            <a:ext cx="11274552" cy="137160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98848"/>
            <a:ext cx="1083564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✦  API 양식</a:t>
            </a:r>
            <a:r>
              <a:rPr sz="1200" b="0">
                <a:solidFill>
                  <a:srgbClr val="C8D8EC"/>
                </a:solidFill>
                <a:latin typeface="맑은 고딕"/>
                <a:ea typeface="맑은 고딕"/>
              </a:rPr>
              <a:t>  —  다소 복잡하거나 유연해도 무방. 앞으로 </a:t>
            </a:r>
            <a:r>
              <a:rPr sz="1200" b="1">
                <a:solidFill>
                  <a:srgbClr val="FFB36B"/>
                </a:solidFill>
                <a:latin typeface="맑은 고딕"/>
                <a:ea typeface="맑은 고딕"/>
              </a:rPr>
              <a:t>LLM 기반 개발로 충분히 정리 가능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✦  소프트웨어 스택</a:t>
            </a:r>
            <a:r>
              <a:rPr sz="1200" b="0">
                <a:solidFill>
                  <a:srgbClr val="C8D8EC"/>
                </a:solidFill>
                <a:latin typeface="맑은 고딕"/>
                <a:ea typeface="맑은 고딕"/>
              </a:rPr>
              <a:t>  —  단, 각 팀 포탈의 </a:t>
            </a:r>
            <a:r>
              <a:rPr sz="1200" b="1">
                <a:solidFill>
                  <a:srgbClr val="FFB36B"/>
                </a:solidFill>
                <a:latin typeface="맑은 고딕"/>
                <a:ea typeface="맑은 고딕"/>
              </a:rPr>
              <a:t>유지보수를 위해 개발 언어·프레임워크는 일정 수준 정리 필요</a:t>
            </a:r>
            <a:r>
              <a:rPr sz="1200" b="0">
                <a:solidFill>
                  <a:srgbClr val="C8D8EC"/>
                </a:solidFill>
                <a:latin typeface="맑은 고딕"/>
                <a:ea typeface="맑은 고딕"/>
              </a:rPr>
              <a:t>  (명시 사항)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97880"/>
            <a:ext cx="11274552" cy="548640"/>
          </a:xfrm>
          <a:prstGeom prst="rect">
            <a:avLst/>
          </a:prstGeom>
          <a:solidFill>
            <a:srgbClr val="E8F0FB"/>
          </a:solidFill>
          <a:ln w="1270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943600"/>
            <a:ext cx="1088136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A5FB4"/>
                </a:solidFill>
                <a:latin typeface="맑은 고딕"/>
                <a:ea typeface="맑은 고딕"/>
              </a:rPr>
              <a:t>효과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사내 시스템 트래픽 절감 · 팀 간 데이터 사일로 해소 · 개발실 데이터 현황 한눈에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API 표준화 — 누가, 무엇을 하나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각 팀 · HE팀 · 사내 시스템 운영 그룹 · AX전략그룹(주관 제안)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0" cy="5257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1597"/>
                <a:gridCol w="7333041"/>
                <a:gridCol w="2199912"/>
              </a:tblGrid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주체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해야 할 일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각 팀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① 사내 시스템 API 사용 현황을 신속히 정리·제출 (어떤 시스템에 무엇을 요청 중인지)
② 팀 포탈 API 개방 — 통합 포탈이 접근·캐싱하도록 (필수)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 제공 + 현황 제출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HE팀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① 취합된 API 요청을 이관받아 통합 포탈에서 데이터 캐싱 운영
② 공통 API 규격·연동 가이드 제공, 각 팀 온보딩 지원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통합 포탈 운영·캐싱 대행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사내 시스템
운영 그룹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① 창구 일원화 안내 접수 — 개발실 요청은 통합 포탈 하나로
② 통합 포탈과 API 규격 협의 — 과도한 트래픽 예방·효율화 (캐싱 허용)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규격 협의 대상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AX전략그룹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① 팀마다 제각각인 사내 시스템 API 요청을 전수 취합·정리 주관
② R&amp;R상 HW담당님 직속보다 적합할 수 있어 제안 — 협의 필요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★ 주관 제안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760720"/>
            <a:ext cx="11274552" cy="685800"/>
          </a:xfrm>
          <a:prstGeom prst="rect">
            <a:avLst/>
          </a:prstGeom>
          <a:solidFill>
            <a:srgbClr val="F5EEF8"/>
          </a:solidFill>
          <a:ln w="1270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815584"/>
            <a:ext cx="1088136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7B3FA0"/>
                </a:solidFill>
                <a:latin typeface="맑은 고딕"/>
                <a:ea typeface="맑은 고딕"/>
              </a:rPr>
              <a:t>제안  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모든 팀의 API 요청 취합·정리는 전사 관점 조율이 필요 → </a:t>
            </a:r>
            <a:r>
              <a:rPr sz="1150" b="1">
                <a:solidFill>
                  <a:srgbClr val="7B3FA0"/>
                </a:solidFill>
                <a:latin typeface="맑은 고딕"/>
                <a:ea typeface="맑은 고딕"/>
              </a:rPr>
              <a:t>AX전략그룹 주관</a:t>
            </a:r>
            <a:r>
              <a:rPr sz="1150" b="0">
                <a:solidFill>
                  <a:srgbClr val="2B2F36"/>
                </a:solidFill>
                <a:latin typeface="맑은 고딕"/>
                <a:ea typeface="맑은 고딕"/>
              </a:rPr>
              <a:t>이 R&amp;R상 적합할 수 있음 (담당님 협의 사항)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역할 분담 — 경계선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이 선 기준으로 책임 분리 : 세 가지를 지키면, 나머지는 HE팀이 책임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solidFill>
            <a:srgbClr val="E27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각 팀  (만드는 쪽)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5394960" cy="3383280"/>
          </a:xfrm>
          <a:prstGeom prst="rect">
            <a:avLst/>
          </a:prstGeom>
          <a:solidFill>
            <a:srgbClr val="FDF3E9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0292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자동화·서비스·업무 로직 개발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소스 제출 / 데이터·백서 업로드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공통 API 규격 준수 · 팀 포탈 API 개방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사내 시스템 API 사용 현황 제출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1차 기능 테스트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E27D2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그룹 담당자 1명 지정·유지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solidFill>
            <a:srgbClr val="12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28016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HE팀  (운영하는 쪽)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783080"/>
            <a:ext cx="5394960" cy="3383280"/>
          </a:xfrm>
          <a:prstGeom prst="rect">
            <a:avLst/>
          </a:prstGeom>
          <a:solidFill>
            <a:srgbClr val="EAF6F4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920240"/>
            <a:ext cx="50292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서버 배포·운영·장애 대응 대행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통합 로그인 · 접근 관리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사내 시스템 데이터 캐싱 · 공통 API 운영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생성형 AI 검색·챗봇 인프라 운영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모니터링·운영 자동화 유지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128C7E"/>
                </a:solidFill>
                <a:latin typeface="맑은 고딕"/>
                <a:ea typeface="맑은 고딕"/>
              </a:rPr>
              <a:t>✅  </a:t>
            </a:r>
            <a:r>
              <a:rPr sz="1250" b="0">
                <a:solidFill>
                  <a:srgbClr val="2B2F36"/>
                </a:solidFill>
                <a:latin typeface="맑은 고딕"/>
                <a:ea typeface="맑은 고딕"/>
              </a:rPr>
              <a:t>규격·가이드·온보딩 지원 제공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49240"/>
            <a:ext cx="11274552" cy="96012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422392"/>
            <a:ext cx="10881360" cy="8229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F9FD8"/>
                </a:solidFill>
                <a:latin typeface="맑은 고딕"/>
                <a:ea typeface="맑은 고딕"/>
              </a:rPr>
              <a:t>경계선 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=  공통 API 규격 준수 · 소스코드 공유 · 그룹 담당자 지정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이 세 가지를 팀이 지키면  →  그 아래 운영 전부는 HE팀이 책임진다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추진 로드맵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Phase 0 완료 → API 현황 조사 → 표준 확정·창구 일원화 → 파일럿 → 전사 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38100" cy="393192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0432" y="1481328"/>
            <a:ext cx="411480" cy="411480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1481328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389888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389888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  <a:ea typeface="맑은 고딕"/>
              </a:rPr>
              <a:t>Phase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89888"/>
            <a:ext cx="6309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통합 포탈 + 3서비스 동작 · 핵심 기반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29800" y="1517904"/>
            <a:ext cx="164592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29800" y="1517904"/>
            <a:ext cx="164592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완료 — 지금 여기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2322576"/>
            <a:ext cx="411480" cy="411480"/>
          </a:xfrm>
          <a:prstGeom prst="ellipse">
            <a:avLst/>
          </a:prstGeom>
          <a:solidFill>
            <a:srgbClr val="1A5F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2322576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2231136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2231136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맑은 고딕"/>
                <a:ea typeface="맑은 고딕"/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31136"/>
            <a:ext cx="6309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API 현황 조사 — 각 팀 사내 시스템 API 사용 현황 취합 (AX전략그룹 주관 제안)</a:t>
            </a:r>
          </a:p>
        </p:txBody>
      </p:sp>
      <p:sp>
        <p:nvSpPr>
          <p:cNvPr id="19" name="Oval 18"/>
          <p:cNvSpPr/>
          <p:nvPr/>
        </p:nvSpPr>
        <p:spPr>
          <a:xfrm>
            <a:off x="1170432" y="3163824"/>
            <a:ext cx="411480" cy="411480"/>
          </a:xfrm>
          <a:prstGeom prst="ellipse">
            <a:avLst/>
          </a:prstGeom>
          <a:solidFill>
            <a:srgbClr val="1A5FB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70432" y="3163824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072384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3072384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5FB4"/>
                </a:solidFill>
                <a:latin typeface="맑은 고딕"/>
                <a:ea typeface="맑은 고딕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072384"/>
            <a:ext cx="6309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표준 확정·창구 일원화 — 규격 문서화 + 사내 시스템 협의 + 캐싱 체계 구축</a:t>
            </a:r>
          </a:p>
        </p:txBody>
      </p:sp>
      <p:sp>
        <p:nvSpPr>
          <p:cNvPr id="24" name="Oval 23"/>
          <p:cNvSpPr/>
          <p:nvPr/>
        </p:nvSpPr>
        <p:spPr>
          <a:xfrm>
            <a:off x="1170432" y="4005072"/>
            <a:ext cx="411480" cy="411480"/>
          </a:xfrm>
          <a:prstGeom prst="ellipse">
            <a:avLst/>
          </a:prstGeom>
          <a:solidFill>
            <a:srgbClr val="128C7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2" y="4005072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3913632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3913632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8C7E"/>
                </a:solidFill>
                <a:latin typeface="맑은 고딕"/>
                <a:ea typeface="맑은 고딕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913632"/>
            <a:ext cx="6309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파일럿·자동화 — 시범 그룹 온보딩 · GitHub 자동 서비스 · LLM 가이드 배포</a:t>
            </a:r>
          </a:p>
        </p:txBody>
      </p:sp>
      <p:sp>
        <p:nvSpPr>
          <p:cNvPr id="29" name="Oval 28"/>
          <p:cNvSpPr/>
          <p:nvPr/>
        </p:nvSpPr>
        <p:spPr>
          <a:xfrm>
            <a:off x="1170432" y="4846320"/>
            <a:ext cx="411480" cy="411480"/>
          </a:xfrm>
          <a:prstGeom prst="ellipse">
            <a:avLst/>
          </a:prstGeom>
          <a:solidFill>
            <a:srgbClr val="E27D2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846320"/>
            <a:ext cx="411480" cy="411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4754880"/>
            <a:ext cx="969264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7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03120" y="4754880"/>
            <a:ext cx="14630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27D2E"/>
                </a:solidFill>
                <a:latin typeface="맑은 고딕"/>
                <a:ea typeface="맑은 고딕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754880"/>
            <a:ext cx="630936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전사 확산 — 전 그룹 온보딩 · 지식 온톨로지 연계 · 담당자 체계 정착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8100"/>
          </a:xfrm>
          <a:prstGeom prst="rect">
            <a:avLst/>
          </a:prstGeom>
          <a:solidFill>
            <a:srgbClr val="1A5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77724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6F9FD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91440"/>
            <a:ext cx="1042416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</a:rPr>
              <a:t>결정 필요 사항 (담당님)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2D4EC"/>
                </a:solidFill>
                <a:latin typeface="맑은 고딕"/>
                <a:ea typeface="맑은 고딕"/>
              </a:rPr>
              <a:t>팀이 자발적으로 못 하는 — 위에서 정해 줘야 굴러가는 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274551" cy="5047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641"/>
                <a:gridCol w="6049759"/>
                <a:gridCol w="4583151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결정 항목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왜 필요한가</a:t>
                      </a:r>
                    </a:p>
                  </a:txBody>
                  <a:tcPr anchor="ctr" marL="76200" marR="50800" marT="25400" marB="25400">
                    <a:solidFill>
                      <a:srgbClr val="143A6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T1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HWAX를 신규 서비스의 ‘표준 경로’로 지정 (새 자동화·서비스는 허브 디폴트)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디폴트가 아니면 표준화가 안 됨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T2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각 팀 포탈 API 개방 의무화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 사일로(고립) 방지 — 상호 접근·캐싱의 전제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T3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유형 3·4 (생성형 AI 데이터·백서 온톨로지) 전 팀 필수 추진 확정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팀 의지에 맡기면 안 됨 — Top-down 필수 항목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T4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그룹별 담당자(Owner) 지정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데이터·챗봇이 ‘주인 있는 자산’이 되어야 방치 방지</a:t>
                      </a:r>
                    </a:p>
                  </a:txBody>
                  <a:tcPr anchor="ctr" marL="76200" marR="50800" marT="25400" marB="25400">
                    <a:solidFill>
                      <a:srgbClr val="E8F0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T5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사내 시스템 API 취합·정리 주관 — AX전략그룹 제안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2B2F36"/>
                          </a:solidFill>
                          <a:latin typeface="맑은 고딕"/>
                          <a:ea typeface="맑은 고딕"/>
                        </a:rPr>
                        <a:t>R&amp;R상 HW담당님 직속보다 적합할 수 있음 (협의)</a:t>
                      </a:r>
                    </a:p>
                  </a:txBody>
                  <a:tcPr anchor="ctr" marL="762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806440"/>
            <a:ext cx="11274552" cy="640080"/>
          </a:xfrm>
          <a:prstGeom prst="rect">
            <a:avLst/>
          </a:prstGeom>
          <a:solidFill>
            <a:srgbClr val="EAF6F4"/>
          </a:solidFill>
          <a:ln w="12700">
            <a:solidFill>
              <a:srgbClr val="128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5852160"/>
            <a:ext cx="1088136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8C7E"/>
                </a:solidFill>
                <a:latin typeface="맑은 고딕"/>
                <a:ea typeface="맑은 고딕"/>
              </a:rPr>
              <a:t>준비 상태  </a:t>
            </a:r>
            <a:r>
              <a:rPr sz="1200" b="0">
                <a:solidFill>
                  <a:srgbClr val="2B2F36"/>
                </a:solidFill>
                <a:latin typeface="맑은 고딕"/>
                <a:ea typeface="맑은 고딕"/>
              </a:rPr>
              <a:t>플랫폼 핵심(통합 포탈·자동 서비스·AI 허브)은 이미 운영 중 — 결정만 내려지면 즉시 확산 단계 진입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