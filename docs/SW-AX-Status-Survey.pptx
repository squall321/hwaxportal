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810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FB4DE"/>
                </a:solidFill>
                <a:latin typeface="맑은 고딕"/>
                <a:ea typeface="맑은 고딕"/>
              </a:rPr>
              <a:t>HWAX 추진 참고 자료 · 벤치마크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맑은 고딕"/>
                <a:ea typeface="맑은 고딕"/>
              </a:rPr>
              <a:t>SW 담당 AX 현황 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DBE8F7"/>
                </a:solidFill>
                <a:latin typeface="맑은 고딕"/>
                <a:ea typeface="맑은 고딕"/>
              </a:rPr>
              <a:t>코드 관리 · 저장 인프라 · 데이터 자산화 — 실무 논의 기반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핵심 관찰 :  “</a:t>
            </a:r>
            <a:r>
              <a:rPr sz="1800" b="1">
                <a:solidFill>
                  <a:srgbClr val="6FCDC5"/>
                </a:solidFill>
                <a:latin typeface="맑은 고딕"/>
                <a:ea typeface="맑은 고딕"/>
              </a:rPr>
              <a:t>저장 인프라는 전사급으로 풍족</a:t>
            </a: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,  그러나 </a:t>
            </a:r>
            <a:r>
              <a:rPr sz="1800" b="1">
                <a:solidFill>
                  <a:srgbClr val="E27D2E"/>
                </a:solidFill>
                <a:latin typeface="맑은 고딕"/>
                <a:ea typeface="맑은 고딕"/>
              </a:rPr>
              <a:t>연결(코드·데이터 상호 접근)과 공통 자산화는 부재</a:t>
            </a: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A9C2E0"/>
                </a:solidFill>
                <a:latin typeface="맑은 고딕"/>
                <a:ea typeface="맑은 고딕"/>
              </a:rPr>
              <a:t>실무자와의 현황 논의 내용을 영역별로 구조화한 자료입니다.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HE팀  |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한눈에 보는 요약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영역별 현황과 평가 — 강점 1 · 한계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1" cy="480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597"/>
                <a:gridCol w="8249672"/>
                <a:gridCol w="1283282"/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영역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현황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저장 인프라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SR과 긴밀 협업 · SPACE(SR 시스템)로 AX 허브 저장공간 활용 — 수십 PB 커버, 전사 비용 운영이라 각 조직은 사용 한도를 체감하지 않고 마음껏 활용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✅ 강점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코드 관리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GitHub로 코드 관리 정착 — 단, 조직 간 사일로로 작용. 각 그룹이 개발한 소스코드를 상호 제공받기 어려움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⚠ 한계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 접근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각 그룹의 데이터를 다른 그룹이 상호 접근하기 어려움 — 디바이스 간 상호작용 SW 개발 시 오픈 가능한 데이터가 제한되어 건별 협의 필요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⚠ 한계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 자산화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공통 자산으로 관리되는 데이터 부재 — 대부분 각 조직의 AI 모델 개발용 리소스에 국한, 업무자가 직접 수집하는 경우 다수 (버즈·와치 사례)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⚠ 한계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532120"/>
            <a:ext cx="11274552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05272"/>
            <a:ext cx="1083564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F9FD8"/>
                </a:solidFill>
                <a:latin typeface="맑은 고딕"/>
                <a:ea typeface="맑은 고딕"/>
              </a:rPr>
              <a:t>한 줄 진단  </a:t>
            </a:r>
            <a:r>
              <a:rPr sz="1350" b="0">
                <a:solidFill>
                  <a:srgbClr val="FFFFFF"/>
                </a:solidFill>
                <a:latin typeface="맑은 고딕"/>
                <a:ea typeface="맑은 고딕"/>
              </a:rPr>
              <a:t>“용량은 전사급, 활용은 조직 단위” — 부족한 것은 인프라가 아니라 </a:t>
            </a:r>
            <a:r>
              <a:rPr sz="1350" b="1">
                <a:solidFill>
                  <a:srgbClr val="FFB36B"/>
                </a:solidFill>
                <a:latin typeface="맑은 고딕"/>
                <a:ea typeface="맑은 고딕"/>
              </a:rPr>
              <a:t>연결과 공통 자산화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저장 인프라 — SR 협업 · SPACE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수십 PB · 전사 비용 운영 — 용량 제약을 체감하지 않는 환경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B2F36"/>
                </a:solidFill>
                <a:latin typeface="맑은 고딕"/>
                <a:ea typeface="맑은 고딕"/>
              </a:rPr>
              <a:t>SW 담당 각 조직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55B66"/>
                </a:solidFill>
                <a:latin typeface="맑은 고딕"/>
                <a:ea typeface="맑은 고딕"/>
              </a:rPr>
              <a:t>AI 모델 개발 · 데이터 적재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55B66"/>
                </a:solidFill>
                <a:latin typeface="맑은 고딕"/>
                <a:ea typeface="맑은 고딕"/>
              </a:rPr>
              <a:t>비용 지불하며 저장공간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1463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9AA6B5"/>
                </a:solidFill>
                <a:latin typeface="맑은 고딕"/>
                <a:ea typeface="맑은 고딕"/>
              </a:rPr>
              <a:t>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1645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55B66"/>
                </a:solidFill>
                <a:latin typeface="맑은 고딕"/>
                <a:ea typeface="맑은 고딕"/>
              </a:rPr>
              <a:t>긴밀 협업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B66"/>
                </a:solidFill>
                <a:latin typeface="맑은 고딕"/>
                <a:ea typeface="맑은 고딕"/>
              </a:rPr>
              <a:t>저장공간 제공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120640" cy="1554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93776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SPACE  (SR 운영 시스템)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B36B"/>
                </a:solidFill>
                <a:latin typeface="맑은 고딕"/>
                <a:ea typeface="맑은 고딕"/>
              </a:rPr>
              <a:t>AX 허브의 저장공간 — 수십 PB까지 커버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전사 비용으로 운영 (조직별 과금 체감 없음)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1274552" cy="1234440"/>
          </a:xfrm>
          <a:prstGeom prst="rect">
            <a:avLst/>
          </a:prstGeom>
          <a:solidFill>
            <a:srgbClr val="F0FAF0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108356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2E8B57"/>
                </a:solidFill>
                <a:latin typeface="맑은 고딕"/>
                <a:ea typeface="맑은 고딕"/>
              </a:rPr>
              <a:t>✅  강점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8B57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수십 PB급 저장공간 — 대규모 데이터도 용량 걱정 없이 적재 가능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8B57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전사 비용으로 운영되어 각 조직이 데이터 사용 한계를 체감하지 않음 → 마음껏 활용하는 문화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74552" cy="123444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90872"/>
            <a:ext cx="108356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C0392B"/>
                </a:solidFill>
                <a:latin typeface="맑은 고딕"/>
                <a:ea typeface="맑은 고딕"/>
              </a:rPr>
              <a:t>⚠  단서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저장공간 공유 ≠ 데이터 공유 — 같은 공간을 쓰더라도 각 그룹의 데이터를 다른 그룹이 상호 접근하기는 어려움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인프라가 풍족해도 데이터 사일로는 그대로 — ‘연결’은 별도의 체계가 필요하다는 방증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035040"/>
            <a:ext cx="10881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5FB4"/>
                </a:solidFill>
                <a:latin typeface="맑은 고딕"/>
                <a:ea typeface="맑은 고딕"/>
              </a:rPr>
              <a:t>참고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전사 비용 부담 모델은 ‘한도를 체감하지 않아야 데이터가 모인다’는 점에서 HWAX 운영에도 참고 가치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코드 · 데이터 사일로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GitHub 정착, 그러나 조직 간 칸막이로 작용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소스코드 사일로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02920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GitHub를 통한 코드 관리가 정착되어 운영 중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그러나 조직 단위로 닫혀 있어 조직 간 사일로로 작용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각 그룹이 개발한 소스코드를 다른 그룹이 제공받기 어려움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34440"/>
            <a:ext cx="54864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34440"/>
            <a:ext cx="5486400" cy="457200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234440"/>
            <a:ext cx="5486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데이터 사일로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20"/>
            <a:ext cx="502920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각 그룹의 데이터를 다른 그룹이 상호 접근하기 어려움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서로 오픈 가능한 데이터의 범위가 제한적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필요할 때마다 건별 협의 과정을 거치게 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274552" cy="1280160"/>
          </a:xfrm>
          <a:prstGeom prst="rect">
            <a:avLst/>
          </a:prstGeom>
          <a:solidFill>
            <a:srgbClr val="FDF3E9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25112"/>
            <a:ext cx="1083564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사례  —  여러 디바이스 간 상호작용 SW 개발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여러 디바이스를 넘나들며 상호작용하는 기능을 개발하려면 다른 그룹의 데이터가 필요하지만,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맑은 고딕"/>
                <a:ea typeface="맑은 고딕"/>
              </a:rPr>
              <a:t>서로 오픈 가능한 데이터에 한계가 있어 그때마다 협의를 진행하는 과정을 거치게 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733288"/>
            <a:ext cx="108813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F9FD8"/>
                </a:solidFill>
                <a:latin typeface="맑은 고딕"/>
                <a:ea typeface="맑은 고딕"/>
              </a:rPr>
              <a:t>시사  </a:t>
            </a: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도구(GitHub) 도입만으로는 공유가 일어나지 않음 — </a:t>
            </a:r>
            <a:r>
              <a:rPr sz="1250" b="1">
                <a:solidFill>
                  <a:srgbClr val="FFB36B"/>
                </a:solidFill>
                <a:latin typeface="맑은 고딕"/>
                <a:ea typeface="맑은 고딕"/>
              </a:rPr>
              <a:t>공유 규격·권한 체계를 함께 설계해야 칸막이가 열림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데이터 자산화 수준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공통 자산으로 관리되는 데이터 부재 — 개별 수집에 의존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350" b="0">
                <a:solidFill>
                  <a:srgbClr val="2B2F36"/>
                </a:solidFill>
                <a:latin typeface="맑은 고딕"/>
                <a:ea typeface="맑은 고딕"/>
              </a:rPr>
              <a:t>데이터 대부분이 </a:t>
            </a:r>
            <a:r>
              <a:rPr sz="1350" b="1">
                <a:solidFill>
                  <a:srgbClr val="2B2F36"/>
                </a:solidFill>
                <a:latin typeface="맑은 고딕"/>
                <a:ea typeface="맑은 고딕"/>
              </a:rPr>
              <a:t>각 조직의 AI 모델 개발용 리소스</a:t>
            </a:r>
            <a:r>
              <a:rPr sz="1350" b="0">
                <a:solidFill>
                  <a:srgbClr val="2B2F36"/>
                </a:solidFill>
                <a:latin typeface="맑은 고딕"/>
                <a:ea typeface="맑은 고딕"/>
              </a:rPr>
              <a:t>에 국한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350" b="0">
                <a:solidFill>
                  <a:srgbClr val="2B2F36"/>
                </a:solidFill>
                <a:latin typeface="맑은 고딕"/>
                <a:ea typeface="맑은 고딕"/>
              </a:rPr>
              <a:t>로그를 직접 기록한 원천 데이터를 </a:t>
            </a:r>
            <a:r>
              <a:rPr sz="1350" b="1">
                <a:solidFill>
                  <a:srgbClr val="2B2F36"/>
                </a:solidFill>
                <a:latin typeface="맑은 고딕"/>
                <a:ea typeface="맑은 고딕"/>
              </a:rPr>
              <a:t>데이터 레이크(공용 원천 데이터 저장소)로 구성하는 경우는 드묾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350" b="0">
                <a:solidFill>
                  <a:srgbClr val="2B2F36"/>
                </a:solidFill>
                <a:latin typeface="맑은 고딕"/>
                <a:ea typeface="맑은 고딕"/>
              </a:rPr>
              <a:t>이미지·신호 패턴을 정제해 정리한 DB는 일부 모아 사용하기도 하나, </a:t>
            </a:r>
            <a:r>
              <a:rPr sz="1350" b="1">
                <a:solidFill>
                  <a:srgbClr val="2B2F36"/>
                </a:solidFill>
                <a:latin typeface="맑은 고딕"/>
                <a:ea typeface="맑은 고딕"/>
              </a:rPr>
              <a:t>공통 자산으로 관리되는 데이터는 없음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350" b="0">
                <a:solidFill>
                  <a:srgbClr val="2B2F36"/>
                </a:solidFill>
                <a:latin typeface="맑은 고딕"/>
                <a:ea typeface="맑은 고딕"/>
              </a:rPr>
              <a:t>그 결과, </a:t>
            </a:r>
            <a:r>
              <a:rPr sz="1350" b="1">
                <a:solidFill>
                  <a:srgbClr val="C0392B"/>
                </a:solidFill>
                <a:latin typeface="맑은 고딕"/>
                <a:ea typeface="맑은 고딕"/>
              </a:rPr>
              <a:t>업무자들이 필요한 데이터를 직접 수집하는 경우가 많음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1371600"/>
          </a:xfrm>
          <a:prstGeom prst="rect">
            <a:avLst/>
          </a:prstGeom>
          <a:solidFill>
            <a:srgbClr val="FDF3E9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30752"/>
            <a:ext cx="1083564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사례  —  버즈 · 와치 운동 인식 데이터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사람의 운동 상태에 따라 기기가 어떻게 인식하는지 확인하기 위해,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맑은 고딕"/>
                <a:ea typeface="맑은 고딕"/>
              </a:rPr>
              <a:t>각 개발자가 직접 뛰면서 모은 데이터를 별도로 데이터화하여 사용 — 대규모 데이터 체계가 없는 상황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66360"/>
            <a:ext cx="11274552" cy="11887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285232"/>
            <a:ext cx="1083564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F9FD8"/>
                </a:solidFill>
                <a:latin typeface="맑은 고딕"/>
                <a:ea typeface="맑은 고딕"/>
              </a:rPr>
              <a:t>시사 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공통 자산 관리가 없으면 같은 성격의 데이터를 여러 사람이 중복 수집하게 됨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→ 데이터를 ‘개인의 수고’가 아닌 ‘조직의 자산’으로 만드는 체계(공통 적재·표준화·담당자)가 핵심 과제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종합 진단 — 강점 vs 한계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인프라는 풍족, 연결·자산화는 공백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✅  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394960" cy="3017520"/>
          </a:xfrm>
          <a:prstGeom prst="rect">
            <a:avLst/>
          </a:prstGeom>
          <a:solidFill>
            <a:srgbClr val="F0FAF0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0292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수십 PB급 전사 저장 인프라 (SPACE)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전사 비용 운영 — 한도 체감 없이 마음껏 활용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SR과의 긴밀한 협업 체계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GitHub 기반 코드 관리 정착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28016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8016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⚠  한계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783080"/>
            <a:ext cx="5394960" cy="301752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65960"/>
            <a:ext cx="50292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조직 간 소스코드 사일로 — 상호 제공 어려움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그룹 간 데이터 상호 접근 곤란 — 건별 협의 필요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공통 데이터 자산·데이터 레이크 부재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개발자 개별 수집 의존 — 대규모 데이터 체계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11274552" cy="11887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93792"/>
            <a:ext cx="1083564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F9FD8"/>
                </a:solidFill>
                <a:latin typeface="맑은 고딕"/>
                <a:ea typeface="맑은 고딕"/>
              </a:rPr>
              <a:t>진단  </a:t>
            </a: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“용량은 전사급, 활용은 조직 단위”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2D4EC"/>
                </a:solidFill>
                <a:latin typeface="맑은 고딕"/>
                <a:ea typeface="맑은 고딕"/>
              </a:rPr>
              <a:t>저장 인프라가 아무리 풍족해도, 연결(상호 접근)과 공통 자산화가 없으면 데이터·코드는 조직 안에 갇힌다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HWAX 추진 관점 시사점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조사 내용에서 도출 — 우리가 배울 것과 피할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8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5084064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5FB4"/>
                </a:solidFill>
                <a:latin typeface="맑은 고딕"/>
                <a:ea typeface="맑은 고딕"/>
              </a:rPr>
              <a:t>①  인프라 ≠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0292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저장공간이 풍족해도 사일로는 풀리지 않음.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B2F36"/>
                </a:solidFill>
                <a:latin typeface="맑은 고딕"/>
                <a:ea typeface="맑은 고딕"/>
              </a:rPr>
              <a:t>→ HWAX가 공통 API·상호 접근 체계(창구 일원화·캐싱)를 먼저 세우는 방향이 타당함을 뒷받침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3444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34440"/>
            <a:ext cx="5486400" cy="508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084064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28C7E"/>
                </a:solidFill>
                <a:latin typeface="맑은 고딕"/>
                <a:ea typeface="맑은 고딕"/>
              </a:rPr>
              <a:t>②  공통 자산화가 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50292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공통 자산 관리가 없으면 같은 데이터를 여러 명이 중복 수집 (버즈·와치 사례).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B2F36"/>
                </a:solidFill>
                <a:latin typeface="맑은 고딕"/>
                <a:ea typeface="맑은 고딕"/>
              </a:rPr>
              <a:t>→ AX Data Hub의 ‘공통 데이터 자산화 + 그룹 담당자 지정’ 필요성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5486400" cy="50800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57600"/>
            <a:ext cx="5084064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7B3FA0"/>
                </a:solidFill>
                <a:latin typeface="맑은 고딕"/>
                <a:ea typeface="맑은 고딕"/>
              </a:rPr>
              <a:t>③  도구만으론 공유 안 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50292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GitHub가 있어도 조직 간 소스 제공은 어려움.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B2F36"/>
                </a:solidFill>
                <a:latin typeface="맑은 고딕"/>
                <a:ea typeface="맑은 고딕"/>
              </a:rPr>
              <a:t>→ 소스 공유 규격·권한 설계를 함께 가져가야 함 (유형 2 운영 위탁의 규격이 중요한 이유)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52044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520440"/>
            <a:ext cx="5486400" cy="5080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5084064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27D2E"/>
                </a:solidFill>
                <a:latin typeface="맑은 고딕"/>
                <a:ea typeface="맑은 고딕"/>
              </a:rPr>
              <a:t>④  비용 모델 참고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114800"/>
            <a:ext cx="50292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전사 비용 운영(SPACE)이라 한도 체감 없이 데이터가 모임.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B2F36"/>
                </a:solidFill>
                <a:latin typeface="맑은 고딕"/>
                <a:ea typeface="맑은 고딕"/>
              </a:rPr>
              <a:t>→ HWAX도 팀별 과금보다 공통 운영 모델이 데이터 결집에 유리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11274552" cy="640080"/>
          </a:xfrm>
          <a:prstGeom prst="rect">
            <a:avLst/>
          </a:prstGeom>
          <a:solidFill>
            <a:srgbClr val="EAF6F4"/>
          </a:solidFill>
          <a:ln w="1270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85216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8C7E"/>
                </a:solidFill>
                <a:latin typeface="맑은 고딕"/>
                <a:ea typeface="맑은 고딕"/>
              </a:rPr>
              <a:t>결론  </a:t>
            </a: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SW 담당의 현황은 ‘인프라 다음 단계’의 과제가 연결·자산화임을 보여줌 — HWAX는 처음부터 이 두 가지를 표준에 포함해 추진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