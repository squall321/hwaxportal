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E2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FB4DE"/>
                </a:solidFill>
                <a:latin typeface="맑은 고딕"/>
                <a:ea typeface="맑은 고딕"/>
              </a:rPr>
              <a:t>HW 담당 산하 개발실 · 공통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맑은 고딕"/>
                <a:ea typeface="맑은 고딕"/>
              </a:rPr>
              <a:t>HWAX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BE8F7"/>
                </a:solidFill>
                <a:latin typeface="맑은 고딕"/>
                <a:ea typeface="맑은 고딕"/>
              </a:rPr>
              <a:t>데이터 &amp; LLM Agent 통합 허브 추진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E6EEF8"/>
                </a:solidFill>
                <a:latin typeface="맑은 고딕"/>
                <a:ea typeface="맑은 고딕"/>
              </a:rPr>
              <a:t>“만드는 건 </a:t>
            </a:r>
            <a:r>
              <a:rPr sz="1800" b="1">
                <a:solidFill>
                  <a:srgbClr val="E27D2E"/>
                </a:solidFill>
                <a:latin typeface="맑은 고딕"/>
                <a:ea typeface="맑은 고딕"/>
              </a:rPr>
              <a:t>각 팀</a:t>
            </a:r>
            <a:r>
              <a:rPr sz="1800" b="0">
                <a:solidFill>
                  <a:srgbClr val="E6EEF8"/>
                </a:solidFill>
                <a:latin typeface="맑은 고딕"/>
                <a:ea typeface="맑은 고딕"/>
              </a:rPr>
              <a:t>, 서비스화·연동·운영은 </a:t>
            </a:r>
            <a:r>
              <a:rPr sz="1800" b="1">
                <a:solidFill>
                  <a:srgbClr val="6F9FD8"/>
                </a:solidFill>
                <a:latin typeface="맑은 고딕"/>
                <a:ea typeface="맑은 고딕"/>
              </a:rPr>
              <a:t>HWAX 허브</a:t>
            </a:r>
            <a:r>
              <a:rPr sz="1800" b="0">
                <a:solidFill>
                  <a:srgbClr val="E6EEF8"/>
                </a:solidFill>
                <a:latin typeface="맑은 고딕"/>
                <a:ea typeface="맑은 고딕"/>
              </a:rPr>
              <a:t>가 표준으로 대행한다.”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A9C2E0"/>
                </a:solidFill>
                <a:latin typeface="맑은 고딕"/>
                <a:ea typeface="맑은 고딕"/>
              </a:rPr>
              <a:t>단, 3가지 약속 — 공통 API · 컨테이너 규격 · GitHub 소스 — 을 지키면.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F9CC0"/>
                </a:solidFill>
                <a:latin typeface="맑은 고딕"/>
                <a:ea typeface="맑은 고딕"/>
              </a:rPr>
              <a:t>각 팀 R&amp;R · 온보딩 가이드 전파용  |  현재 구현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Why — 지금 추진하는 이유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파편화 · 중복 투자 · AI 활용 정체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74551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8249"/>
                <a:gridCol w="5041466"/>
                <a:gridCol w="4124836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Pain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HWAX 이후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파편화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팀마다 stack·API·인증 제각각 → 연동/재사용 불가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공통 게이트웨이·SSO로 한 번에 연결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중복 투자·운영 낭비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팀마다 배포·인증·LLM연동을 따로 구축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허브가 대행 → 팀은 본업에 집중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AI/데이터 활용 정체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데이터·자동화가 흩어져 전사 LLM/Agent 활용 불가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허브로 모아 RAG·Agent 가속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120640"/>
            <a:ext cx="11274552" cy="822960"/>
          </a:xfrm>
          <a:prstGeom prst="rect">
            <a:avLst/>
          </a:prstGeom>
          <a:solidFill>
            <a:srgbClr val="E8F0FB"/>
          </a:solidFill>
          <a:ln w="1270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230368"/>
            <a:ext cx="107899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5FB4"/>
                </a:solidFill>
                <a:latin typeface="맑은 고딕"/>
                <a:ea typeface="맑은 고딕"/>
              </a:rPr>
              <a:t>전제  </a:t>
            </a:r>
            <a:r>
              <a:rPr sz="1300" b="0">
                <a:solidFill>
                  <a:srgbClr val="2B2F36"/>
                </a:solidFill>
                <a:latin typeface="맑은 고딕"/>
                <a:ea typeface="맑은 고딕"/>
              </a:rPr>
              <a:t>상용 LLM 사용은 </a:t>
            </a:r>
            <a:r>
              <a:rPr sz="1300" b="1">
                <a:solidFill>
                  <a:srgbClr val="2B2F36"/>
                </a:solidFill>
                <a:latin typeface="맑은 고딕"/>
                <a:ea typeface="맑은 고딕"/>
              </a:rPr>
              <a:t>전사 차원에서 이미 결정 완료</a:t>
            </a:r>
            <a:r>
              <a:rPr sz="1300" b="0">
                <a:solidFill>
                  <a:srgbClr val="2B2F36"/>
                </a:solidFill>
                <a:latin typeface="맑은 고딕"/>
                <a:ea typeface="맑은 고딕"/>
              </a:rPr>
              <a:t> → 과금/보안 정책은 본 추진 범위 밖.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전체 구조 — 3-Tier 온보딩 사다리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세 서비스 모두 현재 동작 중 (구현 완료)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6858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HWAX Portal</a:t>
            </a:r>
            <a:r>
              <a:rPr sz="1250" b="0">
                <a:solidFill>
                  <a:srgbClr val="C2D4EC"/>
                </a:solidFill>
                <a:latin typeface="맑은 고딕"/>
                <a:ea typeface="맑은 고딕"/>
              </a:rPr>
              <a:t>   단일 관문 · SSO · 접근통제 · 타 그룹 포탈 링크(federation)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1274552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55B66"/>
                </a:solidFill>
                <a:latin typeface="맑은 고딕"/>
                <a:ea typeface="맑은 고딕"/>
              </a:rPr>
              <a:t>가벼움  </a:t>
            </a:r>
            <a:r>
              <a:rPr sz="1100" b="0">
                <a:solidFill>
                  <a:srgbClr val="555B66"/>
                </a:solidFill>
                <a:latin typeface="맑은 고딕"/>
                <a:ea typeface="맑은 고딕"/>
              </a:rPr>
              <a:t>───────────────  팀 부담을 어디까지 덜어주냐  ───────────────</a:t>
            </a:r>
            <a:r>
              <a:rPr sz="1100" b="1">
                <a:solidFill>
                  <a:srgbClr val="555B66"/>
                </a:solidFill>
                <a:latin typeface="맑은 고딕"/>
                <a:ea typeface="맑은 고딕"/>
              </a:rPr>
              <a:t>  무거움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36118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611880" cy="4572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6118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Tier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36118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5FB4"/>
                </a:solidFill>
                <a:latin typeface="맑은 고딕"/>
                <a:ea typeface="맑은 고딕"/>
              </a:rPr>
              <a:t>MX White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링크 / 백서 카탈로그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206240"/>
            <a:ext cx="333756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79"/>
            <a:ext cx="3246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E27D2E"/>
                </a:solidFill>
                <a:latin typeface="맑은 고딕"/>
                <a:ea typeface="맑은 고딕"/>
              </a:rPr>
              <a:t>● </a:t>
            </a:r>
            <a:r>
              <a:rPr sz="1050" b="0">
                <a:solidFill>
                  <a:srgbClr val="2B2F36"/>
                </a:solidFill>
                <a:latin typeface="맑은 고딕"/>
                <a:ea typeface="맑은 고딕"/>
              </a:rPr>
              <a:t>팀: 포탈 URL 등록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28C7E"/>
                </a:solidFill>
                <a:latin typeface="맑은 고딕"/>
                <a:ea typeface="맑은 고딕"/>
              </a:rPr>
              <a:t>● </a:t>
            </a:r>
            <a:r>
              <a:rPr sz="1050" b="0">
                <a:solidFill>
                  <a:srgbClr val="2B2F36"/>
                </a:solidFill>
                <a:latin typeface="맑은 고딕"/>
                <a:ea typeface="맑은 고딕"/>
              </a:rPr>
              <a:t>허브: 게시·검색·노출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2423160"/>
            <a:ext cx="36118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8536" y="2423160"/>
            <a:ext cx="3611880" cy="45720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2423160"/>
            <a:ext cx="36118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Tier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2971800"/>
            <a:ext cx="36118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8C7E"/>
                </a:solidFill>
                <a:latin typeface="맑은 고딕"/>
                <a:ea typeface="맑은 고딕"/>
              </a:rPr>
              <a:t>HWAXHub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3429000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소스 → 빌드 → 서비스 대행
(내부 PaaS)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25696" y="4206240"/>
            <a:ext cx="333756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4297679"/>
            <a:ext cx="3246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E27D2E"/>
                </a:solidFill>
                <a:latin typeface="맑은 고딕"/>
                <a:ea typeface="맑은 고딕"/>
              </a:rPr>
              <a:t>● </a:t>
            </a:r>
            <a:r>
              <a:rPr sz="1050" b="0">
                <a:solidFill>
                  <a:srgbClr val="2B2F36"/>
                </a:solidFill>
                <a:latin typeface="맑은 고딕"/>
                <a:ea typeface="맑은 고딕"/>
              </a:rPr>
              <a:t>팀: GitHub 소스 제출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28C7E"/>
                </a:solidFill>
                <a:latin typeface="맑은 고딕"/>
                <a:ea typeface="맑은 고딕"/>
              </a:rPr>
              <a:t>● </a:t>
            </a:r>
            <a:r>
              <a:rPr sz="1050" b="0">
                <a:solidFill>
                  <a:srgbClr val="2B2F36"/>
                </a:solidFill>
                <a:latin typeface="맑은 고딕"/>
                <a:ea typeface="맑은 고딕"/>
              </a:rPr>
              <a:t>허브: 빌드·배포·호스팅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2423160"/>
            <a:ext cx="36118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9872" y="2423160"/>
            <a:ext cx="3611880" cy="457200"/>
          </a:xfrm>
          <a:prstGeom prst="rect">
            <a:avLst/>
          </a:prstGeom>
          <a:solidFill>
            <a:srgbClr val="E2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2423160"/>
            <a:ext cx="36118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Tier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2971800"/>
            <a:ext cx="36118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7D2E"/>
                </a:solidFill>
                <a:latin typeface="맑은 고딕"/>
                <a:ea typeface="맑은 고딕"/>
              </a:rPr>
              <a:t>AX Data 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3429000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데이터 / RAG → LLM 대행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57032" y="4206240"/>
            <a:ext cx="333756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4297679"/>
            <a:ext cx="3246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E27D2E"/>
                </a:solidFill>
                <a:latin typeface="맑은 고딕"/>
                <a:ea typeface="맑은 고딕"/>
              </a:rPr>
              <a:t>● </a:t>
            </a:r>
            <a:r>
              <a:rPr sz="1050" b="0">
                <a:solidFill>
                  <a:srgbClr val="2B2F36"/>
                </a:solidFill>
                <a:latin typeface="맑은 고딕"/>
                <a:ea typeface="맑은 고딕"/>
              </a:rPr>
              <a:t>팀: 데이터·Agent 등록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28C7E"/>
                </a:solidFill>
                <a:latin typeface="맑은 고딕"/>
                <a:ea typeface="맑은 고딕"/>
              </a:rPr>
              <a:t>● </a:t>
            </a:r>
            <a:r>
              <a:rPr sz="1050" b="0">
                <a:solidFill>
                  <a:srgbClr val="2B2F36"/>
                </a:solidFill>
                <a:latin typeface="맑은 고딕"/>
                <a:ea typeface="맑은 고딕"/>
              </a:rPr>
              <a:t>허브: 적재·임베딩·RAG·LLM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49240"/>
            <a:ext cx="11274552" cy="960120"/>
          </a:xfrm>
          <a:prstGeom prst="rect">
            <a:avLst/>
          </a:prstGeom>
          <a:solidFill>
            <a:srgbClr val="E8F0FB"/>
          </a:solidFill>
          <a:ln w="1270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440680"/>
            <a:ext cx="108813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5FB4"/>
                </a:solidFill>
                <a:latin typeface="맑은 고딕"/>
                <a:ea typeface="맑은 고딕"/>
              </a:rPr>
              <a:t>구현 실측  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HWAXHub = GitHub 연동 + </a:t>
            </a:r>
            <a:r>
              <a:rPr sz="1100" b="1">
                <a:solidFill>
                  <a:srgbClr val="2B2F36"/>
                </a:solidFill>
                <a:latin typeface="맑은 고딕"/>
                <a:ea typeface="맑은 고딕"/>
              </a:rPr>
              <a:t>15개 런타임 SIF 템플릿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(C++/Java/Go/Rust/.NET/Python/Node/Next/R/Shiny/Streamlit…) + stack 자동판별  →  ‘느슨 표준’ 이미 구현.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AX Data Hub = ingest·agents·groups·discover 구현  |  Portal = proxy/jwt-handoff 4종 연동 + sub-path 프록시 동작.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R&amp;R 경계 — Contract 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★ 핵심 : 이 선을 넘겨주면 그 아래 운영은 전부 허브가 책임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502920"/>
          </a:xfrm>
          <a:prstGeom prst="rect">
            <a:avLst/>
          </a:prstGeom>
          <a:solidFill>
            <a:srgbClr val="E2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94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각 팀  (서비스 제공자)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394960" cy="3383280"/>
          </a:xfrm>
          <a:prstGeom prst="rect">
            <a:avLst/>
          </a:prstGeom>
          <a:solidFill>
            <a:srgbClr val="FDF3E9"/>
          </a:solidFill>
          <a:ln w="1905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02920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비즈니스 로직 / 도메인 기능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소스코드 (GitHub 제출)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데이터·문서·Agent 콘텐츠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컨테이너 규격 준수 (느슨 표준)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API를 공통 규약(OpenAPI)으로 노출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1차 기능 테스트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280160"/>
            <a:ext cx="5394960" cy="50292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80160"/>
            <a:ext cx="5394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HWAX 허브  (우리 팀 = 플랫폼)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1783080"/>
            <a:ext cx="5394960" cy="3383280"/>
          </a:xfrm>
          <a:prstGeom prst="rect">
            <a:avLst/>
          </a:prstGeom>
          <a:solidFill>
            <a:srgbClr val="EAF6F4"/>
          </a:solidFill>
          <a:ln w="1905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20240"/>
            <a:ext cx="502920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빌드·배포 파이프라인 (CI/CD)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호스팅·도메인·라우팅 (포탈 prefix)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공통 인증/SSO · 게이트웨이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RAG 인프라 · LLM 게이트웨이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모니터링·로그·운영 자동화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표준·템플릿·온보딩 가이드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74552" cy="10515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08813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6F9FD8"/>
                </a:solidFill>
                <a:latin typeface="맑은 고딕"/>
                <a:ea typeface="맑은 고딕"/>
              </a:rPr>
              <a:t>Contract Line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=  공통 API(OpenAPI+SSO) · 컨테이너 규격 · GitHub 소스 제출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판정 룰 :  ‘이 서비스에만 고유한가?’ → 팀     |     ‘모든 서비스에 공통인가?’ → 허브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Top-down 요청 사항 (담당님 의사결정)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팀이 자발적으로 못 하는 — 위에서 못 박아야 굴러가는 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74551" cy="5047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641"/>
                <a:gridCol w="5774770"/>
                <a:gridCol w="4858140"/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요청 항목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Top-down 이어야 하나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HWAX를 ‘표준 경로’로 지정 (새 서비스는 허브 디폴트)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표준화의 한 방 — 디폴트 아니면 아무도 안 옴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T2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컨테이너 규격 + 공통 API/SSO 준수 의무화 (예외 승인제)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운영 대행이 성립하는 최소 조건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T3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내부 GitHub 소스 공유 의무화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소스 없으면 빌드·서비스 자동화 불가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T4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그룹별 ‘포탈/데이터 담당자(Owner)’ 지정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책임 명확화 — 슬라이드 6 참조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T5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R&amp;R·리소스 주체 합의 (허브 운영=우리 팀)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예산·인력 경계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그룹별 담당자(Owner) 지정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★ 추가 : 그룹 포탈마다 'LLM 능숙 담당자' 1명 지정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777240"/>
          </a:xfrm>
          <a:prstGeom prst="rect">
            <a:avLst/>
          </a:prstGeom>
          <a:solidFill>
            <a:srgbClr val="E8F0FB"/>
          </a:solidFill>
          <a:ln w="1270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107899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6"/>
                </a:solidFill>
                <a:latin typeface="맑은 고딕"/>
                <a:ea typeface="맑은 고딕"/>
              </a:rPr>
              <a:t>그룹별 포탈이 있으면 그 </a:t>
            </a:r>
            <a:r>
              <a:rPr sz="1300" b="1">
                <a:solidFill>
                  <a:srgbClr val="1A5FB4"/>
                </a:solidFill>
                <a:latin typeface="맑은 고딕"/>
                <a:ea typeface="맑은 고딕"/>
              </a:rPr>
              <a:t>포탈 시스템 관리 + 데이터 업로드 관리</a:t>
            </a:r>
            <a:r>
              <a:rPr sz="1300" b="0">
                <a:solidFill>
                  <a:srgbClr val="2B2F36"/>
                </a:solidFill>
                <a:latin typeface="맑은 고딕"/>
                <a:ea typeface="맑은 고딕"/>
              </a:rPr>
              <a:t>를 맡을 </a:t>
            </a:r>
            <a:r>
              <a:rPr sz="1300" b="1">
                <a:solidFill>
                  <a:srgbClr val="2B2F36"/>
                </a:solidFill>
                <a:latin typeface="맑은 고딕"/>
                <a:ea typeface="맑은 고딕"/>
              </a:rPr>
              <a:t>LLM 능숙 담당자를 그룹마다 1명 지정.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286000"/>
          <a:ext cx="11274551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4879"/>
                <a:gridCol w="8249672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담당자 역할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구체 업무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포탈 시스템 관리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그룹 포탈을 HWAX에 등록·갱신, 링크/접근 관리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데이터 업로드 관리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그룹 데이터·문서를 AX Data Hub에 적재, RAG 소스 큐레이션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Agent / LLM 운용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그룹 Agent 정의·튜닝, 질의 품질 관리 (LLM 능숙자)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허브 창구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허브팀 ↔ 그룹 단일 접점 (온보딩·이슈 대응)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solidFill>
            <a:srgbClr val="FDF3E9"/>
          </a:solidFill>
          <a:ln w="1270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468112"/>
            <a:ext cx="1088136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27D2E"/>
                </a:solidFill>
                <a:latin typeface="맑은 고딕"/>
                <a:ea typeface="맑은 고딕"/>
              </a:rPr>
              <a:t>구현 연계  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AX Data Hub에 </a:t>
            </a:r>
            <a:r>
              <a:rPr sz="1100" b="1">
                <a:solidFill>
                  <a:srgbClr val="2B2F36"/>
                </a:solidFill>
                <a:latin typeface="맑은 고딕"/>
                <a:ea typeface="맑은 고딕"/>
              </a:rPr>
              <a:t>groups 개념은 있음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 → 그룹별 owner 필드+권한 신설 시 R&amp;R이 시스템에 정착. (현재 owner 지정 필드는 미구현 = 신설 항목)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효과  데이터·Agent가 ‘주인 있는 자산’ → 방치·정체 방지.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HWAX 허브(우리 팀) 제공물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표준이 굴러가려면 우리가 만들어 줘야 하는 것 — 코어는 이미 깔림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74550" cy="4352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9912"/>
                <a:gridCol w="5591444"/>
                <a:gridCol w="3483194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영역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제공물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현황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공통 API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API 게이트웨이 · SSO 표준 · OpenAPI 템플릿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SSO/프록시 동작, 게이트웨이 표준화 진행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컨테이너 규격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표준 def/이미지 + 15 런타임 템플릿 + 예외 승인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✅ 구현됨 (HWAXHub stacks)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CI/CD 자동화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GitHub push→빌드→서비스 무인 파이프라인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부분 구현 (빌드·Drive 배포)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데이터/RAG/LLM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적재 표준 · RAG 파이프라인 · LLM 게이트웨이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✅ 구현됨 (ingest·agents)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운영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모니터링·로그·헬스·장애대응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부분 (진단·배포 자동화 보유)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거버넌스 사무국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표준 문서·온보딩 가이드·예외 승인 창구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신설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623560"/>
            <a:ext cx="11274552" cy="685800"/>
          </a:xfrm>
          <a:prstGeom prst="rect">
            <a:avLst/>
          </a:prstGeom>
          <a:solidFill>
            <a:srgbClr val="EAF6F4"/>
          </a:solidFill>
          <a:ln w="1270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669280"/>
            <a:ext cx="108813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8C7E"/>
                </a:solidFill>
                <a:latin typeface="맑은 고딕"/>
                <a:ea typeface="맑은 고딕"/>
              </a:rPr>
              <a:t>강점  </a:t>
            </a: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플랫폼 코어(포탈·SSO·프록시·빌드·RAG)는 이미 깔려 있음  →  표준화는 ‘정착·확산’ 단계.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각 팀 온보딩 체크리스트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성숙도에 맞는 Tier를 고르면 됨 (전파용)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Tier 1 — 링크만 (제일 쉬움)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2745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10607040" cy="4023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5FB4"/>
                </a:solidFill>
                <a:latin typeface="맑은 고딕"/>
                <a:ea typeface="맑은 고딕"/>
              </a:rPr>
              <a:t>☐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팀 자동화 포탈 URL을 MX White Paper에 등록  →  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11274552" cy="45720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109728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Tier 2 — 서비스 대행 (HWAXHub)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16352"/>
            <a:ext cx="11274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89504"/>
            <a:ext cx="10607040" cy="13350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8C7E"/>
                </a:solidFill>
                <a:latin typeface="맑은 고딕"/>
                <a:ea typeface="맑은 고딕"/>
              </a:rPr>
              <a:t>☐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내부 GitHub 레포 제출 (소스 공유)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8C7E"/>
                </a:solidFill>
                <a:latin typeface="맑은 고딕"/>
                <a:ea typeface="맑은 고딕"/>
              </a:rPr>
              <a:t>☐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manifest에 build.stack 선언 (지원 15종 중 택1, 언어 자유)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8C7E"/>
                </a:solidFill>
                <a:latin typeface="맑은 고딕"/>
                <a:ea typeface="맑은 고딕"/>
              </a:rPr>
              <a:t>☐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공통 API/SSO 규약 적용 (sub-path · 인증)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8C7E"/>
                </a:solidFill>
                <a:latin typeface="맑은 고딕"/>
                <a:ea typeface="맑은 고딕"/>
              </a:rPr>
              <a:t>☐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→ push 하면 빌드·배포·호스팅 자동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70832"/>
            <a:ext cx="11274552" cy="457200"/>
          </a:xfrm>
          <a:prstGeom prst="rect">
            <a:avLst/>
          </a:prstGeom>
          <a:solidFill>
            <a:srgbClr val="E2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70832"/>
            <a:ext cx="109728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Tier 3 — 데이터 / AI (AX Data Hub)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28032"/>
            <a:ext cx="11274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01184"/>
            <a:ext cx="10607040" cy="13350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27D2E"/>
                </a:solidFill>
                <a:latin typeface="맑은 고딕"/>
                <a:ea typeface="맑은 고딕"/>
              </a:rPr>
              <a:t>☐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데이터·문서 표준 포맷으로 등록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27D2E"/>
                </a:solidFill>
                <a:latin typeface="맑은 고딕"/>
                <a:ea typeface="맑은 고딕"/>
              </a:rPr>
              <a:t>☐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RAG 소스 · Agent 정의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27D2E"/>
                </a:solidFill>
                <a:latin typeface="맑은 고딕"/>
                <a:ea typeface="맑은 고딕"/>
              </a:rPr>
              <a:t>☐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그룹 담당자(Owner) 지정 (포탈/데이터 관리)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27D2E"/>
                </a:solidFill>
                <a:latin typeface="맑은 고딕"/>
                <a:ea typeface="맑은 고딕"/>
              </a:rPr>
              <a:t>☐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→ RAG·LLM 서비스 대행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추진 로드맵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Phase 0 완료 → 표준 확정 → 파일럿 → 셀프서비스 → 확산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38100" cy="393192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" y="1481328"/>
            <a:ext cx="411480" cy="411480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481328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389888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389888"/>
            <a:ext cx="1828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맑은 고딕"/>
                <a:ea typeface="맑은 고딕"/>
              </a:rPr>
              <a:t>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389888"/>
            <a:ext cx="5943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포탈 + 3허브 동작·연동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38360" y="1517904"/>
            <a:ext cx="1737360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1517904"/>
            <a:ext cx="1737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완료 — 지금 여기</a:t>
            </a:r>
          </a:p>
        </p:txBody>
      </p:sp>
      <p:sp>
        <p:nvSpPr>
          <p:cNvPr id="14" name="Oval 13"/>
          <p:cNvSpPr/>
          <p:nvPr/>
        </p:nvSpPr>
        <p:spPr>
          <a:xfrm>
            <a:off x="1170432" y="2322576"/>
            <a:ext cx="411480" cy="411480"/>
          </a:xfrm>
          <a:prstGeom prst="ellipse">
            <a:avLst/>
          </a:prstGeom>
          <a:solidFill>
            <a:srgbClr val="1A5FB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322576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231136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2231136"/>
            <a:ext cx="1828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맑은 고딕"/>
                <a:ea typeface="맑은 고딕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231136"/>
            <a:ext cx="5943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표준 확정 (공통 API·컨테이너·소스규약 문서화 + 담당님 승인)</a:t>
            </a:r>
          </a:p>
        </p:txBody>
      </p:sp>
      <p:sp>
        <p:nvSpPr>
          <p:cNvPr id="19" name="Oval 18"/>
          <p:cNvSpPr/>
          <p:nvPr/>
        </p:nvSpPr>
        <p:spPr>
          <a:xfrm>
            <a:off x="1170432" y="3163824"/>
            <a:ext cx="411480" cy="411480"/>
          </a:xfrm>
          <a:prstGeom prst="ellipse">
            <a:avLst/>
          </a:prstGeom>
          <a:solidFill>
            <a:srgbClr val="1A5FB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3163824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072384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072384"/>
            <a:ext cx="1828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맑은 고딕"/>
                <a:ea typeface="맑은 고딕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3072384"/>
            <a:ext cx="5943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파일럿 (1~2개 그룹을 표준대로 온보딩 = 레퍼런스 케이스)</a:t>
            </a:r>
          </a:p>
        </p:txBody>
      </p:sp>
      <p:sp>
        <p:nvSpPr>
          <p:cNvPr id="24" name="Oval 23"/>
          <p:cNvSpPr/>
          <p:nvPr/>
        </p:nvSpPr>
        <p:spPr>
          <a:xfrm>
            <a:off x="1170432" y="4005072"/>
            <a:ext cx="411480" cy="411480"/>
          </a:xfrm>
          <a:prstGeom prst="ellipse">
            <a:avLst/>
          </a:prstGeom>
          <a:solidFill>
            <a:srgbClr val="128C7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005072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913632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3913632"/>
            <a:ext cx="1828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8C7E"/>
                </a:solidFill>
                <a:latin typeface="맑은 고딕"/>
                <a:ea typeface="맑은 고딕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3913632"/>
            <a:ext cx="5943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셀프서비스 (GitHub push → 자동 서비스 무인화)</a:t>
            </a:r>
          </a:p>
        </p:txBody>
      </p:sp>
      <p:sp>
        <p:nvSpPr>
          <p:cNvPr id="29" name="Oval 28"/>
          <p:cNvSpPr/>
          <p:nvPr/>
        </p:nvSpPr>
        <p:spPr>
          <a:xfrm>
            <a:off x="1170432" y="4846320"/>
            <a:ext cx="411480" cy="411480"/>
          </a:xfrm>
          <a:prstGeom prst="ellipse">
            <a:avLst/>
          </a:prstGeom>
          <a:solidFill>
            <a:srgbClr val="E27D2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4846320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4754880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4754880"/>
            <a:ext cx="1828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27D2E"/>
                </a:solidFill>
                <a:latin typeface="맑은 고딕"/>
                <a:ea typeface="맑은 고딕"/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4754880"/>
            <a:ext cx="5943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확산 (전 그룹 온보딩 + 그룹 담당자 체계 정착)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